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705" r:id="rId1"/>
  </p:sldMasterIdLst>
  <p:notesMasterIdLst>
    <p:notesMasterId r:id="rId64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C59ED"/>
    <a:srgbClr val="FF8500"/>
    <a:srgbClr val="000000"/>
    <a:srgbClr val="2444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51"/>
    <p:restoredTop sz="94790"/>
  </p:normalViewPr>
  <p:slideViewPr>
    <p:cSldViewPr snapToGrid="0">
      <p:cViewPr varScale="1">
        <p:scale>
          <a:sx n="113" d="100"/>
          <a:sy n="113" d="100"/>
        </p:scale>
        <p:origin x="64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64" Type="http://schemas.openxmlformats.org/officeDocument/2006/relationships/notesMaster" Target="notesMasters/notesMaster1.xml"/><Relationship Id="rId65" Type="http://schemas.openxmlformats.org/officeDocument/2006/relationships/presProps" Target="presProps.xml"/><Relationship Id="rId66" Type="http://schemas.openxmlformats.org/officeDocument/2006/relationships/viewProps" Target="viewProps.xml"/><Relationship Id="rId67" Type="http://schemas.openxmlformats.org/officeDocument/2006/relationships/theme" Target="theme/theme1.xml"/><Relationship Id="rId6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102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102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1025" name="PlaceHolder 4"/>
          <p:cNvSpPr>
            <a:spLocks noGrp="1"/>
          </p:cNvSpPr>
          <p:nvPr>
            <p:ph type="dt" idx="232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026" name="PlaceHolder 5"/>
          <p:cNvSpPr>
            <a:spLocks noGrp="1"/>
          </p:cNvSpPr>
          <p:nvPr>
            <p:ph type="ftr" idx="233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027" name="PlaceHolder 6"/>
          <p:cNvSpPr>
            <a:spLocks noGrp="1"/>
          </p:cNvSpPr>
          <p:nvPr>
            <p:ph type="sldNum" idx="234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B6CB1F99-662B-4954-9E72-C01CA2D49CC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38150" y="457200"/>
            <a:ext cx="5981700" cy="3363913"/>
          </a:xfrm>
          <a:prstGeom prst="rect">
            <a:avLst/>
          </a:prstGeom>
          <a:ln w="0">
            <a:noFill/>
          </a:ln>
        </p:spPr>
      </p:sp>
      <p:sp>
        <p:nvSpPr>
          <p:cNvPr id="2560" name="PlaceHolder 2"/>
          <p:cNvSpPr>
            <a:spLocks noGrp="1"/>
          </p:cNvSpPr>
          <p:nvPr>
            <p:ph type="body"/>
          </p:nvPr>
        </p:nvSpPr>
        <p:spPr>
          <a:xfrm>
            <a:off x="419040" y="4197600"/>
            <a:ext cx="6000480" cy="432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/>
        </p:txBody>
      </p:sp>
      <p:sp>
        <p:nvSpPr>
          <p:cNvPr id="2561" name="PlaceHolder 3"/>
          <p:cNvSpPr>
            <a:spLocks noGrp="1"/>
          </p:cNvSpPr>
          <p:nvPr>
            <p:ph type="sldNum" idx="235"/>
          </p:nvPr>
        </p:nvSpPr>
        <p:spPr>
          <a:xfrm>
            <a:off x="194328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>
              <a:lnSpc>
                <a:spcPct val="100000"/>
              </a:lnSpc>
              <a:buNone/>
              <a:defRPr lang="en-US" sz="1000" b="0" u="none" strike="noStrike">
                <a:solidFill>
                  <a:srgbClr val="000000"/>
                </a:solidFill>
                <a:effectLst/>
                <a:uFillTx/>
                <a:latin typeface="Amazon Ember Display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F2F02EDC-BF7D-4347-ACBF-68ECE1F5909B}" type="slidenum"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mazon Ember Display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bg>
      <p:bgPr>
        <a:solidFill>
          <a:schemeClr val="dk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1" name="Picture 14"/>
          <p:cNvPicPr/>
          <p:nvPr/>
        </p:nvPicPr>
        <p:blipFill>
          <a:blip r:embed="rId2"/>
          <a:stretch/>
        </p:blipFill>
        <p:spPr>
          <a:xfrm>
            <a:off x="595440" y="6338160"/>
            <a:ext cx="36540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2" name="TextBox 10"/>
          <p:cNvSpPr/>
          <p:nvPr/>
        </p:nvSpPr>
        <p:spPr>
          <a:xfrm>
            <a:off x="1141200" y="6389640"/>
            <a:ext cx="3936960" cy="18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600" b="0" u="none" strike="noStrike">
                <a:solidFill>
                  <a:schemeClr val="lt2"/>
                </a:solidFill>
                <a:effectLst/>
                <a:uFillTx/>
                <a:latin typeface="Amazon Ember Display"/>
              </a:rPr>
              <a:t>© 2025, Amazon Web Services, Inc. or its affiliates. All rights reserved. Amazon Confidential and Trademark.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3" name="Slide Number Placeholder 5"/>
          <p:cNvSpPr/>
          <p:nvPr/>
        </p:nvSpPr>
        <p:spPr>
          <a:xfrm>
            <a:off x="8929080" y="628956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algn="r" defTabSz="914400">
              <a:lnSpc>
                <a:spcPct val="100000"/>
              </a:lnSpc>
            </a:pPr>
            <a:fld id="{12FD3B4F-B175-4744-AA83-96836675AE17}" type="slidenum">
              <a:rPr lang="en-US" sz="900" b="0" u="none" strike="noStrike">
                <a:solidFill>
                  <a:schemeClr val="lt2"/>
                </a:solidFill>
                <a:effectLst/>
                <a:uFillTx/>
                <a:latin typeface="Amazon Ember Display"/>
              </a:rPr>
              <a:t>‹#›</a:t>
            </a:fld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94" name="Picture 13"/>
          <p:cNvPicPr/>
          <p:nvPr/>
        </p:nvPicPr>
        <p:blipFill>
          <a:blip r:embed="rId3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5" name="PlaceHolder 1"/>
          <p:cNvSpPr>
            <a:spLocks noGrp="1"/>
          </p:cNvSpPr>
          <p:nvPr>
            <p:ph type="title"/>
          </p:nvPr>
        </p:nvSpPr>
        <p:spPr>
          <a:xfrm>
            <a:off x="477360" y="3418200"/>
            <a:ext cx="6460560" cy="923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lt2"/>
                </a:solidFill>
                <a:effectLst/>
                <a:uFillTx/>
                <a:latin typeface="Amazon Ember Display"/>
                <a:ea typeface="Amazon Ember Display"/>
              </a:rPr>
              <a:t>Enter title</a:t>
            </a:r>
            <a:endParaRPr lang="en-US" sz="60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6" name="PlaceHolder 2"/>
          <p:cNvSpPr>
            <a:spLocks noGrp="1"/>
          </p:cNvSpPr>
          <p:nvPr>
            <p:ph type="body"/>
          </p:nvPr>
        </p:nvSpPr>
        <p:spPr>
          <a:xfrm>
            <a:off x="609480" y="5262120"/>
            <a:ext cx="3796920" cy="36900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Amazon Ember Display"/>
                <a:ea typeface="Amazon Ember Display"/>
              </a:rPr>
              <a:t>Speaker name (pronouns)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Amazon Ember Display"/>
            </a:endParaRPr>
          </a:p>
        </p:txBody>
      </p:sp>
      <p:sp>
        <p:nvSpPr>
          <p:cNvPr id="497" name="PlaceHolder 3"/>
          <p:cNvSpPr>
            <a:spLocks noGrp="1"/>
          </p:cNvSpPr>
          <p:nvPr>
            <p:ph type="body"/>
          </p:nvPr>
        </p:nvSpPr>
        <p:spPr>
          <a:xfrm>
            <a:off x="609480" y="331920"/>
            <a:ext cx="6476760" cy="23040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000" b="0" u="none" strike="noStrike" cap="all" spc="300">
                <a:solidFill>
                  <a:schemeClr val="lt2"/>
                </a:solidFill>
                <a:effectLst/>
                <a:uFillTx/>
                <a:latin typeface="Amazon Ember Mono"/>
                <a:ea typeface="Amazon Ember Mono"/>
              </a:rPr>
              <a:t>Enter session ID if required</a:t>
            </a:r>
            <a:endParaRPr lang="en-US" sz="1000" b="0" u="none" strike="noStrike">
              <a:solidFill>
                <a:schemeClr val="lt1"/>
              </a:solidFill>
              <a:effectLst/>
              <a:uFillTx/>
              <a:latin typeface="Amazon Ember Display"/>
            </a:endParaRPr>
          </a:p>
        </p:txBody>
      </p:sp>
      <p:sp>
        <p:nvSpPr>
          <p:cNvPr id="498" name="PlaceHolder 4"/>
          <p:cNvSpPr>
            <a:spLocks noGrp="1"/>
          </p:cNvSpPr>
          <p:nvPr>
            <p:ph type="body"/>
          </p:nvPr>
        </p:nvSpPr>
        <p:spPr>
          <a:xfrm>
            <a:off x="609480" y="5674680"/>
            <a:ext cx="3796920" cy="5353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spcAft>
                <a:spcPts val="300"/>
              </a:spcAft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lt2"/>
                </a:solidFill>
                <a:effectLst/>
                <a:uFillTx/>
                <a:latin typeface="Amazon Ember Display"/>
                <a:ea typeface="Amazon Ember Display"/>
              </a:rPr>
              <a:t>Speaker job title</a:t>
            </a:r>
            <a:br>
              <a:rPr sz="1600"/>
            </a:br>
            <a:r>
              <a:rPr lang="en-US" sz="1600" b="0" u="none" strike="noStrike">
                <a:solidFill>
                  <a:schemeClr val="lt2"/>
                </a:solidFill>
                <a:effectLst/>
                <a:uFillTx/>
                <a:latin typeface="Amazon Ember Display"/>
                <a:ea typeface="Amazon Ember Display"/>
              </a:rPr>
              <a:t>Speaker company</a:t>
            </a:r>
            <a:endParaRPr lang="en-US" sz="1600" b="0" u="none" strike="noStrike">
              <a:solidFill>
                <a:schemeClr val="lt1"/>
              </a:solidFill>
              <a:effectLst/>
              <a:uFillTx/>
              <a:latin typeface="Amazon Ember Display"/>
            </a:endParaRPr>
          </a:p>
        </p:txBody>
      </p:sp>
      <p:sp>
        <p:nvSpPr>
          <p:cNvPr id="499" name="TextBox 10"/>
          <p:cNvSpPr/>
          <p:nvPr/>
        </p:nvSpPr>
        <p:spPr>
          <a:xfrm>
            <a:off x="504360" y="6389640"/>
            <a:ext cx="4452158" cy="18321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600" b="0" u="none" strike="noStrike" dirty="0">
                <a:solidFill>
                  <a:schemeClr val="tx1"/>
                </a:solidFill>
                <a:effectLst/>
                <a:uFillTx/>
                <a:latin typeface="Amazon Ember Display"/>
              </a:rPr>
              <a:t>© 2026, </a:t>
            </a:r>
            <a:r>
              <a:rPr lang="en-US" sz="600" b="0" u="none" strike="noStrike" dirty="0">
                <a:solidFill>
                  <a:schemeClr val="lt2"/>
                </a:solidFill>
                <a:effectLst/>
                <a:uFillTx/>
                <a:latin typeface="Amazon Ember Display"/>
              </a:rPr>
              <a:t>Amazon Web Services, Inc. or its affiliates. All rights reserved. Amazon Confidential and Trademark.</a:t>
            </a:r>
            <a:endParaRPr lang="en-US" sz="6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0" name="Picture 3"/>
          <p:cNvPicPr/>
          <p:nvPr/>
        </p:nvPicPr>
        <p:blipFill>
          <a:blip r:embed="rId4"/>
          <a:srcRect r="55119"/>
          <a:stretch/>
        </p:blipFill>
        <p:spPr>
          <a:xfrm>
            <a:off x="612720" y="502920"/>
            <a:ext cx="1164960" cy="7398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5">
    <p:bg>
      <p:bgPr>
        <a:solidFill>
          <a:schemeClr val="dk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9" name="Picture 14"/>
          <p:cNvPicPr/>
          <p:nvPr/>
        </p:nvPicPr>
        <p:blipFill>
          <a:blip r:embed="rId2"/>
          <a:stretch/>
        </p:blipFill>
        <p:spPr>
          <a:xfrm>
            <a:off x="595440" y="6338160"/>
            <a:ext cx="36540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0" name="TextBox 10"/>
          <p:cNvSpPr/>
          <p:nvPr/>
        </p:nvSpPr>
        <p:spPr>
          <a:xfrm>
            <a:off x="1141200" y="6389640"/>
            <a:ext cx="4452158" cy="18321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600" b="0" u="none" strike="noStrike" dirty="0">
                <a:solidFill>
                  <a:schemeClr val="lt2"/>
                </a:solidFill>
                <a:effectLst/>
                <a:uFillTx/>
                <a:latin typeface="Amazon Ember Display"/>
              </a:rPr>
              <a:t>© </a:t>
            </a:r>
            <a:r>
              <a:rPr lang="en-US" sz="600" b="0" u="none" strike="noStrike" dirty="0">
                <a:solidFill>
                  <a:schemeClr val="tx1"/>
                </a:solidFill>
                <a:effectLst/>
                <a:uFillTx/>
                <a:latin typeface="Amazon Ember Display"/>
              </a:rPr>
              <a:t>2026</a:t>
            </a:r>
            <a:r>
              <a:rPr lang="en-US" sz="600" b="0" u="none" strike="noStrike" dirty="0">
                <a:solidFill>
                  <a:schemeClr val="lt2"/>
                </a:solidFill>
                <a:effectLst/>
                <a:uFillTx/>
                <a:latin typeface="Amazon Ember Display"/>
              </a:rPr>
              <a:t>, Amazon Web Services, Inc. or its affiliates. All rights reserved. Amazon Confidential and Trademark.</a:t>
            </a:r>
            <a:endParaRPr lang="en-US" sz="6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1" name="Slide Number Placeholder 5"/>
          <p:cNvSpPr/>
          <p:nvPr/>
        </p:nvSpPr>
        <p:spPr>
          <a:xfrm>
            <a:off x="8929080" y="628956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algn="r" defTabSz="914400">
              <a:lnSpc>
                <a:spcPct val="100000"/>
              </a:lnSpc>
            </a:pPr>
            <a:fld id="{9753960E-F92E-46E7-8A65-17B8DC5A31AC}" type="slidenum">
              <a:rPr lang="en-US" sz="900" b="0" u="none" strike="noStrike">
                <a:solidFill>
                  <a:schemeClr val="lt2"/>
                </a:solidFill>
                <a:effectLst/>
                <a:uFillTx/>
                <a:latin typeface="Amazon Ember Display"/>
              </a:rPr>
              <a:t>‹#›</a:t>
            </a:fld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2" name="PlaceHolder 1"/>
          <p:cNvSpPr>
            <a:spLocks noGrp="1"/>
          </p:cNvSpPr>
          <p:nvPr>
            <p:ph type="title"/>
          </p:nvPr>
        </p:nvSpPr>
        <p:spPr>
          <a:xfrm>
            <a:off x="539280" y="914400"/>
            <a:ext cx="10972440" cy="535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3600" b="0" u="none" strike="noStrike">
                <a:solidFill>
                  <a:schemeClr val="lt1"/>
                </a:solidFill>
                <a:effectLst/>
                <a:uFillTx/>
                <a:latin typeface="Amazon Ember Display"/>
                <a:ea typeface="Amazon Ember Display"/>
              </a:rPr>
              <a:t>Title and subtitle layout</a:t>
            </a:r>
            <a:endParaRPr lang="en-US" sz="36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3" name="PlaceHolder 2"/>
          <p:cNvSpPr>
            <a:spLocks noGrp="1"/>
          </p:cNvSpPr>
          <p:nvPr>
            <p:ph type="body"/>
          </p:nvPr>
        </p:nvSpPr>
        <p:spPr>
          <a:xfrm>
            <a:off x="609480" y="1455840"/>
            <a:ext cx="10972440" cy="341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Amazon Ember Display"/>
                <a:ea typeface="Amazon Ember Display"/>
              </a:rPr>
              <a:t>Enter subtitle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Amazon Ember Display"/>
            </a:endParaRPr>
          </a:p>
        </p:txBody>
      </p:sp>
      <p:sp>
        <p:nvSpPr>
          <p:cNvPr id="544" name="PlaceHolder 3"/>
          <p:cNvSpPr>
            <a:spLocks noGrp="1"/>
          </p:cNvSpPr>
          <p:nvPr>
            <p:ph type="dt" idx="127"/>
          </p:nvPr>
        </p:nvSpPr>
        <p:spPr>
          <a:xfrm>
            <a:off x="838080" y="695340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Amazon Ember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Amazon Ember Display"/>
              </a:rPr>
              <a:t>&lt;date/time&gt;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45" name="PlaceHolder 4"/>
          <p:cNvSpPr>
            <a:spLocks noGrp="1"/>
          </p:cNvSpPr>
          <p:nvPr>
            <p:ph type="ftr" idx="128"/>
          </p:nvPr>
        </p:nvSpPr>
        <p:spPr>
          <a:xfrm>
            <a:off x="4038480" y="695340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46" name="PlaceHolder 5"/>
          <p:cNvSpPr>
            <a:spLocks noGrp="1"/>
          </p:cNvSpPr>
          <p:nvPr>
            <p:ph type="sldNum" idx="129"/>
          </p:nvPr>
        </p:nvSpPr>
        <p:spPr>
          <a:xfrm>
            <a:off x="8929080" y="628956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lt2"/>
                </a:solidFill>
                <a:effectLst/>
                <a:uFillTx/>
                <a:latin typeface="Amazon Ember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30DF93F-463A-413B-B8BD-D332BDF395BE}" type="slidenum">
              <a:rPr lang="en-US" sz="900" b="0" u="none" strike="noStrike">
                <a:solidFill>
                  <a:schemeClr val="lt2"/>
                </a:solidFill>
                <a:effectLst/>
                <a:uFillTx/>
                <a:latin typeface="Amazon Ember Display"/>
              </a:rPr>
              <a:t>‹#›</a:t>
            </a:fld>
            <a:endParaRPr lang="en-US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32">
    <p:bg>
      <p:bgPr>
        <a:solidFill>
          <a:schemeClr val="dk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" name="Picture 14"/>
          <p:cNvPicPr/>
          <p:nvPr/>
        </p:nvPicPr>
        <p:blipFill>
          <a:blip r:embed="rId2"/>
          <a:stretch/>
        </p:blipFill>
        <p:spPr>
          <a:xfrm>
            <a:off x="595440" y="6338160"/>
            <a:ext cx="36540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0" name="TextBox 10"/>
          <p:cNvSpPr/>
          <p:nvPr/>
        </p:nvSpPr>
        <p:spPr>
          <a:xfrm>
            <a:off x="1141200" y="6389640"/>
            <a:ext cx="3936960" cy="18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600" b="0" u="none" strike="noStrike">
                <a:solidFill>
                  <a:schemeClr val="lt2"/>
                </a:solidFill>
                <a:effectLst/>
                <a:uFillTx/>
                <a:latin typeface="Amazon Ember Display"/>
              </a:rPr>
              <a:t>© 2025, Amazon Web Services, Inc. or its affiliates. All rights reserved. Amazon Confidential and Trademark.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1" name="Slide Number Placeholder 5"/>
          <p:cNvSpPr/>
          <p:nvPr/>
        </p:nvSpPr>
        <p:spPr>
          <a:xfrm>
            <a:off x="8929080" y="628956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algn="r" defTabSz="914400">
              <a:lnSpc>
                <a:spcPct val="100000"/>
              </a:lnSpc>
            </a:pPr>
            <a:fld id="{1BF4EF38-CF6A-4C3D-99E5-C46C40915F9E}" type="slidenum">
              <a:rPr lang="en-US" sz="900" b="0" u="none" strike="noStrike">
                <a:solidFill>
                  <a:schemeClr val="lt2"/>
                </a:solidFill>
                <a:effectLst/>
                <a:uFillTx/>
                <a:latin typeface="Amazon Ember Display"/>
              </a:rPr>
              <a:t>‹#›</a:t>
            </a:fld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22" name="Picture 2"/>
          <p:cNvPicPr/>
          <p:nvPr/>
        </p:nvPicPr>
        <p:blipFill>
          <a:blip r:embed="rId3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3" name="PlaceHolder 1"/>
          <p:cNvSpPr>
            <a:spLocks noGrp="1"/>
          </p:cNvSpPr>
          <p:nvPr>
            <p:ph type="title"/>
          </p:nvPr>
        </p:nvSpPr>
        <p:spPr>
          <a:xfrm>
            <a:off x="609480" y="2718000"/>
            <a:ext cx="7822800" cy="1421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800" b="0" u="none" strike="noStrike">
                <a:solidFill>
                  <a:schemeClr val="lt2"/>
                </a:solidFill>
                <a:effectLst/>
                <a:uFillTx/>
                <a:latin typeface="Amazon Ember Display"/>
                <a:ea typeface="Amazon Ember Display"/>
              </a:rPr>
              <a:t>Section layout: Enter section name here</a:t>
            </a:r>
            <a:endParaRPr lang="en-US" sz="4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4" name="PlaceHolder 2"/>
          <p:cNvSpPr>
            <a:spLocks noGrp="1"/>
          </p:cNvSpPr>
          <p:nvPr>
            <p:ph type="dt" idx="199"/>
          </p:nvPr>
        </p:nvSpPr>
        <p:spPr>
          <a:xfrm>
            <a:off x="838080" y="695340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Amazon Ember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Amazon Ember Display"/>
              </a:rPr>
              <a:t>&lt;date/time&gt;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25" name="PlaceHolder 3"/>
          <p:cNvSpPr>
            <a:spLocks noGrp="1"/>
          </p:cNvSpPr>
          <p:nvPr>
            <p:ph type="ftr" idx="200"/>
          </p:nvPr>
        </p:nvSpPr>
        <p:spPr>
          <a:xfrm>
            <a:off x="4038480" y="695340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826" name="PlaceHolder 4"/>
          <p:cNvSpPr>
            <a:spLocks noGrp="1"/>
          </p:cNvSpPr>
          <p:nvPr>
            <p:ph type="sldNum" idx="201"/>
          </p:nvPr>
        </p:nvSpPr>
        <p:spPr>
          <a:xfrm>
            <a:off x="8929080" y="628956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lt1"/>
                </a:solidFill>
                <a:effectLst/>
                <a:uFillTx/>
                <a:latin typeface="Amazon Ember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ACABB17-BC33-4FFE-A6D9-A65289314CA2}" type="slidenum">
              <a:rPr lang="en-US" sz="900" b="0" u="none" strike="noStrike">
                <a:solidFill>
                  <a:schemeClr val="lt1"/>
                </a:solidFill>
                <a:effectLst/>
                <a:uFillTx/>
                <a:latin typeface="Amazon Ember Display"/>
              </a:rPr>
              <a:t>‹#›</a:t>
            </a:fld>
            <a:endParaRPr lang="en-US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27" name="TextBox 11"/>
          <p:cNvSpPr/>
          <p:nvPr/>
        </p:nvSpPr>
        <p:spPr>
          <a:xfrm>
            <a:off x="1141200" y="6389640"/>
            <a:ext cx="4452158" cy="18321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600" b="0" u="none" strike="noStrike" dirty="0">
                <a:solidFill>
                  <a:schemeClr val="lt2"/>
                </a:solidFill>
                <a:effectLst/>
                <a:uFillTx/>
                <a:latin typeface="Amazon Ember Display"/>
              </a:rPr>
              <a:t>© </a:t>
            </a:r>
            <a:r>
              <a:rPr lang="en-US" sz="600" b="0" u="none" strike="noStrike" dirty="0">
                <a:solidFill>
                  <a:schemeClr val="tx1"/>
                </a:solidFill>
                <a:effectLst/>
                <a:uFillTx/>
                <a:latin typeface="Amazon Ember Display"/>
              </a:rPr>
              <a:t>2026</a:t>
            </a:r>
            <a:r>
              <a:rPr lang="en-US" sz="600" b="0" u="none" strike="noStrike" dirty="0">
                <a:solidFill>
                  <a:schemeClr val="lt2"/>
                </a:solidFill>
                <a:effectLst/>
                <a:uFillTx/>
                <a:latin typeface="Amazon Ember Display"/>
              </a:rPr>
              <a:t>, Amazon Web Services, Inc. or its affiliates. All rights reserved. Amazon Confidential and Trademark.</a:t>
            </a:r>
            <a:endParaRPr lang="en-US" sz="6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28" name="Picture 3"/>
          <p:cNvPicPr/>
          <p:nvPr/>
        </p:nvPicPr>
        <p:blipFill>
          <a:blip r:embed="rId2"/>
          <a:stretch/>
        </p:blipFill>
        <p:spPr>
          <a:xfrm>
            <a:off x="595440" y="6338160"/>
            <a:ext cx="36540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9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lt1"/>
                </a:solidFill>
                <a:effectLst/>
                <a:uFillTx/>
                <a:latin typeface="Amazon Ember Display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lt1"/>
                </a:solidFill>
                <a:effectLst/>
                <a:uFillTx/>
                <a:latin typeface="Amazon Ember Display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Amazon Ember Display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Amazon Ember Display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lt1"/>
                </a:solidFill>
                <a:effectLst/>
                <a:uFillTx/>
                <a:latin typeface="Amazon Ember Display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lt1"/>
                </a:solidFill>
                <a:effectLst/>
                <a:uFillTx/>
                <a:latin typeface="Amazon Ember Display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lt1"/>
                </a:solidFill>
                <a:effectLst/>
                <a:uFillTx/>
                <a:latin typeface="Amazon Ember Display"/>
              </a:rPr>
              <a:t>Seventh Outline Level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33" Type="http://schemas.openxmlformats.org/officeDocument/2006/relationships/slideLayout" Target="../slideLayouts/slideLayout33.xml"/><Relationship Id="rId5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dk1" tx1="lt1" bg2="dk2" tx2="lt2" accent1="accent1" accent2="accent2" accent3="accent3" accent4="accent4" accent5="accent5" accent6="accent6" hlink="hlink" folHlink="folHlink"/>
  <p:sldLayoutIdLst>
    <p:sldLayoutId id="2147483706" r:id="rId1"/>
    <p:sldLayoutId id="2147483711" r:id="rId6"/>
    <p:sldLayoutId id="2147483738" r:id="rId3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PlaceHolder 1"/>
          <p:cNvSpPr>
            <a:spLocks noGrp="1"/>
          </p:cNvSpPr>
          <p:nvPr>
            <p:ph type="title"/>
          </p:nvPr>
        </p:nvSpPr>
        <p:spPr>
          <a:xfrm>
            <a:off x="1744200" y="2067480"/>
            <a:ext cx="5868000" cy="923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6000" b="1" u="none" strike="noStrike">
                <a:solidFill>
                  <a:schemeClr val="lt2"/>
                </a:solidFill>
                <a:effectLst/>
                <a:uFillTx/>
                <a:latin typeface="Amazon Ember Display"/>
                <a:ea typeface="Amazon Ember Display"/>
              </a:rPr>
              <a:t>AWS Transform</a:t>
            </a:r>
            <a:endParaRPr lang="en-US" sz="60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9" name="PlaceHolder 2"/>
          <p:cNvSpPr>
            <a:spLocks noGrp="1"/>
          </p:cNvSpPr>
          <p:nvPr>
            <p:ph/>
          </p:nvPr>
        </p:nvSpPr>
        <p:spPr>
          <a:xfrm>
            <a:off x="522720" y="3184920"/>
            <a:ext cx="7210800" cy="5353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3200" b="1" u="none" strike="noStrike">
                <a:solidFill>
                  <a:schemeClr val="lt2"/>
                </a:solidFill>
                <a:effectLst/>
                <a:uFillTx/>
                <a:latin typeface="Amazon Ember Display"/>
                <a:ea typeface="Amazon Ember Display"/>
              </a:rPr>
              <a:t>Migration Assessment Business Case</a:t>
            </a:r>
            <a:endParaRPr lang="en-US" sz="3200" b="0" u="none" strike="noStrike">
              <a:solidFill>
                <a:schemeClr val="lt1"/>
              </a:solidFill>
              <a:effectLst/>
              <a:uFillTx/>
              <a:latin typeface="Amazon Ember Display"/>
            </a:endParaRPr>
          </a:p>
        </p:txBody>
      </p:sp>
      <p:sp>
        <p:nvSpPr>
          <p:cNvPr id="1030" name="TextBox 7"/>
          <p:cNvSpPr/>
          <p:nvPr/>
        </p:nvSpPr>
        <p:spPr>
          <a:xfrm>
            <a:off x="492480" y="5821560"/>
            <a:ext cx="379440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600" b="0" i="1" u="none" strike="noStrike">
                <a:solidFill>
                  <a:srgbClr val="FFFFFF"/>
                </a:solidFill>
                <a:effectLst/>
                <a:uFillTx/>
                <a:latin typeface="Amazon Ember"/>
              </a:rPr>
              <a:t>August 2026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1" name="Freeform: Shape 5"/>
          <p:cNvSpPr/>
          <p:nvPr/>
        </p:nvSpPr>
        <p:spPr>
          <a:xfrm>
            <a:off x="522720" y="1955880"/>
            <a:ext cx="1027800" cy="1146240"/>
          </a:xfrm>
          <a:custGeom>
            <a:avLst/>
            <a:gdLst>
              <a:gd name="textAreaLeft" fmla="*/ 0 w 1027800"/>
              <a:gd name="textAreaRight" fmla="*/ 1028160 w 1027800"/>
              <a:gd name="textAreaTop" fmla="*/ 0 h 1146240"/>
              <a:gd name="textAreaBottom" fmla="*/ 1146600 h 1146240"/>
              <a:gd name="GluePoint1X" fmla="*/ 447638 w 457200"/>
              <a:gd name="GluePoint1Y" fmla="*/ 167819 h 533978"/>
              <a:gd name="GluePoint2X" fmla="*/ 428551 w 457200"/>
              <a:gd name="GluePoint2Y" fmla="*/ 167884 h 533978"/>
              <a:gd name="GluePoint3X" fmla="*/ 338100 w 457200"/>
              <a:gd name="GluePoint3Y" fmla="*/ 220663 h 533978"/>
              <a:gd name="GluePoint4X" fmla="*/ 333375 w 457200"/>
              <a:gd name="GluePoint4Y" fmla="*/ 228889 h 533978"/>
              <a:gd name="GluePoint5X" fmla="*/ 333375 w 457200"/>
              <a:gd name="GluePoint5Y" fmla="*/ 289677 h 533978"/>
              <a:gd name="GluePoint6X" fmla="*/ 300539 w 457200"/>
              <a:gd name="GluePoint6Y" fmla="*/ 306094 h 533978"/>
              <a:gd name="GluePoint7X" fmla="*/ 295275 w 457200"/>
              <a:gd name="GluePoint7Y" fmla="*/ 314614 h 533978"/>
              <a:gd name="GluePoint8X" fmla="*/ 295275 w 457200"/>
              <a:gd name="GluePoint8Y" fmla="*/ 347952 h 533978"/>
              <a:gd name="GluePoint9X" fmla="*/ 266700 w 457200"/>
              <a:gd name="GluePoint9Y" fmla="*/ 369383 h 533978"/>
              <a:gd name="GluePoint10X" fmla="*/ 238125 w 457200"/>
              <a:gd name="GluePoint10Y" fmla="*/ 347957 h 533978"/>
              <a:gd name="GluePoint11X" fmla="*/ 238125 w 457200"/>
              <a:gd name="GluePoint11Y" fmla="*/ 186023 h 533978"/>
              <a:gd name="GluePoint12X" fmla="*/ 266700 w 457200"/>
              <a:gd name="GluePoint12Y" fmla="*/ 164596 h 533978"/>
              <a:gd name="GluePoint13X" fmla="*/ 295275 w 457200"/>
              <a:gd name="GluePoint13Y" fmla="*/ 186027 h 533978"/>
              <a:gd name="GluePoint14X" fmla="*/ 295275 w 457200"/>
              <a:gd name="GluePoint14Y" fmla="*/ 223174 h 533978"/>
              <a:gd name="GluePoint15X" fmla="*/ 314325 w 457200"/>
              <a:gd name="GluePoint15Y" fmla="*/ 212221 h 533978"/>
              <a:gd name="GluePoint16X" fmla="*/ 314325 w 457200"/>
              <a:gd name="GluePoint16Y" fmla="*/ 181264 h 533978"/>
              <a:gd name="GluePoint17X" fmla="*/ 310511 w 457200"/>
              <a:gd name="GluePoint17Y" fmla="*/ 173646 h 533978"/>
              <a:gd name="GluePoint18X" fmla="*/ 272411 w 457200"/>
              <a:gd name="GluePoint18Y" fmla="*/ 145071 h 533978"/>
              <a:gd name="GluePoint19X" fmla="*/ 260989 w 457200"/>
              <a:gd name="GluePoint19Y" fmla="*/ 145071 h 533978"/>
              <a:gd name="GluePoint20X" fmla="*/ 228600 w 457200"/>
              <a:gd name="GluePoint20Y" fmla="*/ 169358 h 533978"/>
              <a:gd name="GluePoint21X" fmla="*/ 196211 w 457200"/>
              <a:gd name="GluePoint21Y" fmla="*/ 145071 h 533978"/>
              <a:gd name="GluePoint22X" fmla="*/ 185449 w 457200"/>
              <a:gd name="GluePoint22Y" fmla="*/ 144611 h 533978"/>
              <a:gd name="GluePoint23X" fmla="*/ 147349 w 457200"/>
              <a:gd name="GluePoint23Y" fmla="*/ 168424 h 533978"/>
              <a:gd name="GluePoint24X" fmla="*/ 142875 w 457200"/>
              <a:gd name="GluePoint24Y" fmla="*/ 176502 h 533978"/>
              <a:gd name="GluePoint25X" fmla="*/ 142875 w 457200"/>
              <a:gd name="GluePoint25Y" fmla="*/ 213477 h 533978"/>
              <a:gd name="GluePoint26X" fmla="*/ 110039 w 457200"/>
              <a:gd name="GluePoint26Y" fmla="*/ 229894 h 533978"/>
              <a:gd name="GluePoint27X" fmla="*/ 104775 w 457200"/>
              <a:gd name="GluePoint27Y" fmla="*/ 238414 h 533978"/>
              <a:gd name="GluePoint28X" fmla="*/ 104775 w 457200"/>
              <a:gd name="GluePoint28Y" fmla="*/ 299434 h 533978"/>
              <a:gd name="GluePoint29X" fmla="*/ 19050 w 457200"/>
              <a:gd name="GluePoint29Y" fmla="*/ 346195 h 533978"/>
              <a:gd name="GluePoint30X" fmla="*/ 19050 w 457200"/>
              <a:gd name="GluePoint30Y" fmla="*/ 160406 h 533978"/>
              <a:gd name="GluePoint31X" fmla="*/ 37337 w 457200"/>
              <a:gd name="GluePoint31Y" fmla="*/ 127859 h 533978"/>
              <a:gd name="GluePoint32X" fmla="*/ 206964 w 457200"/>
              <a:gd name="GluePoint32Y" fmla="*/ 24610 h 533978"/>
              <a:gd name="GluePoint33X" fmla="*/ 248636 w 457200"/>
              <a:gd name="GluePoint33Y" fmla="*/ 25939 h 533978"/>
              <a:gd name="GluePoint34X" fmla="*/ 388884 w 457200"/>
              <a:gd name="GluePoint34Y" fmla="*/ 124115 h 533978"/>
              <a:gd name="GluePoint35X" fmla="*/ 342900 w 457200"/>
              <a:gd name="GluePoint35Y" fmla="*/ 124115 h 533978"/>
              <a:gd name="GluePoint36X" fmla="*/ 342900 w 457200"/>
              <a:gd name="GluePoint36Y" fmla="*/ 143165 h 533978"/>
              <a:gd name="GluePoint37X" fmla="*/ 419100 w 457200"/>
              <a:gd name="GluePoint37Y" fmla="*/ 143165 h 533978"/>
              <a:gd name="GluePoint38X" fmla="*/ 428625 w 457200"/>
              <a:gd name="GluePoint38Y" fmla="*/ 133640 h 533978"/>
              <a:gd name="GluePoint39X" fmla="*/ 428625 w 457200"/>
              <a:gd name="GluePoint39Y" fmla="*/ 57440 h 533978"/>
              <a:gd name="GluePoint40X" fmla="*/ 409575 w 457200"/>
              <a:gd name="GluePoint40Y" fmla="*/ 57440 h 533978"/>
              <a:gd name="GluePoint41X" fmla="*/ 409575 w 457200"/>
              <a:gd name="GluePoint41Y" fmla="*/ 115347 h 533978"/>
              <a:gd name="GluePoint42X" fmla="*/ 259556 w 457200"/>
              <a:gd name="GluePoint42Y" fmla="*/ 10332 h 533978"/>
              <a:gd name="GluePoint43X" fmla="*/ 197067 w 457200"/>
              <a:gd name="GluePoint43Y" fmla="*/ 8336 h 533978"/>
              <a:gd name="GluePoint44X" fmla="*/ 27440 w 457200"/>
              <a:gd name="GluePoint44Y" fmla="*/ 111590 h 533978"/>
              <a:gd name="GluePoint45X" fmla="*/ 0 w 457200"/>
              <a:gd name="GluePoint45Y" fmla="*/ 160406 h 533978"/>
              <a:gd name="GluePoint46X" fmla="*/ 0 w 457200"/>
              <a:gd name="GluePoint46Y" fmla="*/ 346195 h 533978"/>
              <a:gd name="GluePoint47X" fmla="*/ 9320 w 457200"/>
              <a:gd name="GluePoint47Y" fmla="*/ 362575 h 533978"/>
              <a:gd name="GluePoint48X" fmla="*/ 19040 w 457200"/>
              <a:gd name="GluePoint48Y" fmla="*/ 365267 h 533978"/>
              <a:gd name="GluePoint49X" fmla="*/ 28165 w 457200"/>
              <a:gd name="GluePoint49Y" fmla="*/ 362919 h 533978"/>
              <a:gd name="GluePoint50X" fmla="*/ 118858 w 457200"/>
              <a:gd name="GluePoint50Y" fmla="*/ 313452 h 533978"/>
              <a:gd name="GluePoint51X" fmla="*/ 123825 w 457200"/>
              <a:gd name="GluePoint51Y" fmla="*/ 305090 h 533978"/>
              <a:gd name="GluePoint52X" fmla="*/ 123825 w 457200"/>
              <a:gd name="GluePoint52Y" fmla="*/ 244303 h 533978"/>
              <a:gd name="GluePoint53X" fmla="*/ 156661 w 457200"/>
              <a:gd name="GluePoint53Y" fmla="*/ 227885 h 533978"/>
              <a:gd name="GluePoint54X" fmla="*/ 161925 w 457200"/>
              <a:gd name="GluePoint54Y" fmla="*/ 219365 h 533978"/>
              <a:gd name="GluePoint55X" fmla="*/ 161925 w 457200"/>
              <a:gd name="GluePoint55Y" fmla="*/ 181782 h 533978"/>
              <a:gd name="GluePoint56X" fmla="*/ 190007 w 457200"/>
              <a:gd name="GluePoint56Y" fmla="*/ 164229 h 533978"/>
              <a:gd name="GluePoint57X" fmla="*/ 219075 w 457200"/>
              <a:gd name="GluePoint57Y" fmla="*/ 186023 h 533978"/>
              <a:gd name="GluePoint58X" fmla="*/ 219075 w 457200"/>
              <a:gd name="GluePoint58Y" fmla="*/ 347957 h 533978"/>
              <a:gd name="GluePoint59X" fmla="*/ 190500 w 457200"/>
              <a:gd name="GluePoint59Y" fmla="*/ 369384 h 533978"/>
              <a:gd name="GluePoint60X" fmla="*/ 161925 w 457200"/>
              <a:gd name="GluePoint60Y" fmla="*/ 347953 h 533978"/>
              <a:gd name="GluePoint61X" fmla="*/ 161925 w 457200"/>
              <a:gd name="GluePoint61Y" fmla="*/ 310805 h 533978"/>
              <a:gd name="GluePoint62X" fmla="*/ 142875 w 457200"/>
              <a:gd name="GluePoint62Y" fmla="*/ 321283 h 533978"/>
              <a:gd name="GluePoint63X" fmla="*/ 142875 w 457200"/>
              <a:gd name="GluePoint63Y" fmla="*/ 352715 h 533978"/>
              <a:gd name="GluePoint64X" fmla="*/ 146689 w 457200"/>
              <a:gd name="GluePoint64Y" fmla="*/ 360333 h 533978"/>
              <a:gd name="GluePoint65X" fmla="*/ 184789 w 457200"/>
              <a:gd name="GluePoint65Y" fmla="*/ 388908 h 533978"/>
              <a:gd name="GluePoint66X" fmla="*/ 196211 w 457200"/>
              <a:gd name="GluePoint66Y" fmla="*/ 388908 h 533978"/>
              <a:gd name="GluePoint67X" fmla="*/ 228600 w 457200"/>
              <a:gd name="GluePoint67Y" fmla="*/ 364622 h 533978"/>
              <a:gd name="GluePoint68X" fmla="*/ 260989 w 457200"/>
              <a:gd name="GluePoint68Y" fmla="*/ 388908 h 533978"/>
              <a:gd name="GluePoint69X" fmla="*/ 272411 w 457200"/>
              <a:gd name="GluePoint69Y" fmla="*/ 388908 h 533978"/>
              <a:gd name="GluePoint70X" fmla="*/ 310511 w 457200"/>
              <a:gd name="GluePoint70Y" fmla="*/ 360333 h 533978"/>
              <a:gd name="GluePoint71X" fmla="*/ 314325 w 457200"/>
              <a:gd name="GluePoint71Y" fmla="*/ 352715 h 533978"/>
              <a:gd name="GluePoint72X" fmla="*/ 314325 w 457200"/>
              <a:gd name="GluePoint72Y" fmla="*/ 320503 h 533978"/>
              <a:gd name="GluePoint73X" fmla="*/ 347161 w 457200"/>
              <a:gd name="GluePoint73Y" fmla="*/ 304085 h 533978"/>
              <a:gd name="GluePoint74X" fmla="*/ 352425 w 457200"/>
              <a:gd name="GluePoint74Y" fmla="*/ 295565 h 533978"/>
              <a:gd name="GluePoint75X" fmla="*/ 352425 w 457200"/>
              <a:gd name="GluePoint75Y" fmla="*/ 234360 h 533978"/>
              <a:gd name="GluePoint76X" fmla="*/ 438150 w 457200"/>
              <a:gd name="GluePoint76Y" fmla="*/ 184339 h 533978"/>
              <a:gd name="GluePoint77X" fmla="*/ 438150 w 457200"/>
              <a:gd name="GluePoint77Y" fmla="*/ 373574 h 533978"/>
              <a:gd name="GluePoint78X" fmla="*/ 419863 w 457200"/>
              <a:gd name="GluePoint78Y" fmla="*/ 406121 h 533978"/>
              <a:gd name="GluePoint79X" fmla="*/ 250236 w 457200"/>
              <a:gd name="GluePoint79Y" fmla="*/ 509370 h 533978"/>
              <a:gd name="GluePoint80X" fmla="*/ 208564 w 457200"/>
              <a:gd name="GluePoint80Y" fmla="*/ 508041 h 533978"/>
              <a:gd name="GluePoint81X" fmla="*/ 68315 w 457200"/>
              <a:gd name="GluePoint81Y" fmla="*/ 409865 h 533978"/>
              <a:gd name="GluePoint82X" fmla="*/ 114300 w 457200"/>
              <a:gd name="GluePoint82Y" fmla="*/ 409865 h 533978"/>
              <a:gd name="GluePoint83X" fmla="*/ 114300 w 457200"/>
              <a:gd name="GluePoint83Y" fmla="*/ 390815 h 533978"/>
              <a:gd name="GluePoint84X" fmla="*/ 38100 w 457200"/>
              <a:gd name="GluePoint84Y" fmla="*/ 390815 h 533978"/>
              <a:gd name="GluePoint85X" fmla="*/ 28575 w 457200"/>
              <a:gd name="GluePoint85Y" fmla="*/ 400340 h 533978"/>
              <a:gd name="GluePoint86X" fmla="*/ 28575 w 457200"/>
              <a:gd name="GluePoint86Y" fmla="*/ 476540 h 533978"/>
              <a:gd name="GluePoint87X" fmla="*/ 47625 w 457200"/>
              <a:gd name="GluePoint87Y" fmla="*/ 476540 h 533978"/>
              <a:gd name="GluePoint88X" fmla="*/ 47625 w 457200"/>
              <a:gd name="GluePoint88Y" fmla="*/ 418634 h 533978"/>
              <a:gd name="GluePoint89X" fmla="*/ 197644 w 457200"/>
              <a:gd name="GluePoint89Y" fmla="*/ 523649 h 533978"/>
              <a:gd name="GluePoint90X" fmla="*/ 230423 w 457200"/>
              <a:gd name="GluePoint90Y" fmla="*/ 533978 h 533978"/>
              <a:gd name="GluePoint91X" fmla="*/ 260133 w 457200"/>
              <a:gd name="GluePoint91Y" fmla="*/ 525644 h 533978"/>
              <a:gd name="GluePoint92X" fmla="*/ 429759 w 457200"/>
              <a:gd name="GluePoint92Y" fmla="*/ 422390 h 533978"/>
              <a:gd name="GluePoint93X" fmla="*/ 457200 w 457200"/>
              <a:gd name="GluePoint93Y" fmla="*/ 373574 h 533978"/>
              <a:gd name="GluePoint94X" fmla="*/ 457200 w 457200"/>
              <a:gd name="GluePoint94Y" fmla="*/ 184339 h 533978"/>
              <a:gd name="GluePoint95X" fmla="*/ 447638 w 457200"/>
              <a:gd name="GluePoint95Y" fmla="*/ 167819 h 53397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  <a:cxn ang="0">
                <a:pos x="GluePoint23X" y="GluePoint23Y"/>
              </a:cxn>
              <a:cxn ang="0">
                <a:pos x="GluePoint24X" y="GluePoint24Y"/>
              </a:cxn>
              <a:cxn ang="0">
                <a:pos x="GluePoint25X" y="GluePoint25Y"/>
              </a:cxn>
              <a:cxn ang="0">
                <a:pos x="GluePoint26X" y="GluePoint26Y"/>
              </a:cxn>
              <a:cxn ang="0">
                <a:pos x="GluePoint27X" y="GluePoint27Y"/>
              </a:cxn>
              <a:cxn ang="0">
                <a:pos x="GluePoint28X" y="GluePoint28Y"/>
              </a:cxn>
              <a:cxn ang="0">
                <a:pos x="GluePoint29X" y="GluePoint29Y"/>
              </a:cxn>
              <a:cxn ang="0">
                <a:pos x="GluePoint30X" y="GluePoint30Y"/>
              </a:cxn>
              <a:cxn ang="0">
                <a:pos x="GluePoint31X" y="GluePoint31Y"/>
              </a:cxn>
              <a:cxn ang="0">
                <a:pos x="GluePoint32X" y="GluePoint32Y"/>
              </a:cxn>
              <a:cxn ang="0">
                <a:pos x="GluePoint33X" y="GluePoint33Y"/>
              </a:cxn>
              <a:cxn ang="0">
                <a:pos x="GluePoint34X" y="GluePoint34Y"/>
              </a:cxn>
              <a:cxn ang="0">
                <a:pos x="GluePoint35X" y="GluePoint35Y"/>
              </a:cxn>
              <a:cxn ang="0">
                <a:pos x="GluePoint36X" y="GluePoint36Y"/>
              </a:cxn>
              <a:cxn ang="0">
                <a:pos x="GluePoint37X" y="GluePoint37Y"/>
              </a:cxn>
              <a:cxn ang="0">
                <a:pos x="GluePoint38X" y="GluePoint38Y"/>
              </a:cxn>
              <a:cxn ang="0">
                <a:pos x="GluePoint39X" y="GluePoint39Y"/>
              </a:cxn>
              <a:cxn ang="0">
                <a:pos x="GluePoint40X" y="GluePoint40Y"/>
              </a:cxn>
              <a:cxn ang="0">
                <a:pos x="GluePoint41X" y="GluePoint41Y"/>
              </a:cxn>
              <a:cxn ang="0">
                <a:pos x="GluePoint42X" y="GluePoint42Y"/>
              </a:cxn>
              <a:cxn ang="0">
                <a:pos x="GluePoint43X" y="GluePoint43Y"/>
              </a:cxn>
              <a:cxn ang="0">
                <a:pos x="GluePoint44X" y="GluePoint44Y"/>
              </a:cxn>
              <a:cxn ang="0">
                <a:pos x="GluePoint45X" y="GluePoint45Y"/>
              </a:cxn>
              <a:cxn ang="0">
                <a:pos x="GluePoint46X" y="GluePoint46Y"/>
              </a:cxn>
              <a:cxn ang="0">
                <a:pos x="GluePoint47X" y="GluePoint47Y"/>
              </a:cxn>
              <a:cxn ang="0">
                <a:pos x="GluePoint48X" y="GluePoint48Y"/>
              </a:cxn>
              <a:cxn ang="0">
                <a:pos x="GluePoint49X" y="GluePoint49Y"/>
              </a:cxn>
              <a:cxn ang="0">
                <a:pos x="GluePoint50X" y="GluePoint50Y"/>
              </a:cxn>
              <a:cxn ang="0">
                <a:pos x="GluePoint51X" y="GluePoint51Y"/>
              </a:cxn>
              <a:cxn ang="0">
                <a:pos x="GluePoint52X" y="GluePoint52Y"/>
              </a:cxn>
              <a:cxn ang="0">
                <a:pos x="GluePoint53X" y="GluePoint53Y"/>
              </a:cxn>
              <a:cxn ang="0">
                <a:pos x="GluePoint54X" y="GluePoint54Y"/>
              </a:cxn>
              <a:cxn ang="0">
                <a:pos x="GluePoint55X" y="GluePoint55Y"/>
              </a:cxn>
              <a:cxn ang="0">
                <a:pos x="GluePoint56X" y="GluePoint56Y"/>
              </a:cxn>
              <a:cxn ang="0">
                <a:pos x="GluePoint57X" y="GluePoint57Y"/>
              </a:cxn>
              <a:cxn ang="0">
                <a:pos x="GluePoint58X" y="GluePoint58Y"/>
              </a:cxn>
              <a:cxn ang="0">
                <a:pos x="GluePoint59X" y="GluePoint59Y"/>
              </a:cxn>
              <a:cxn ang="0">
                <a:pos x="GluePoint60X" y="GluePoint60Y"/>
              </a:cxn>
              <a:cxn ang="0">
                <a:pos x="GluePoint61X" y="GluePoint61Y"/>
              </a:cxn>
              <a:cxn ang="0">
                <a:pos x="GluePoint62X" y="GluePoint62Y"/>
              </a:cxn>
              <a:cxn ang="0">
                <a:pos x="GluePoint63X" y="GluePoint63Y"/>
              </a:cxn>
              <a:cxn ang="0">
                <a:pos x="GluePoint64X" y="GluePoint64Y"/>
              </a:cxn>
              <a:cxn ang="0">
                <a:pos x="GluePoint65X" y="GluePoint65Y"/>
              </a:cxn>
              <a:cxn ang="0">
                <a:pos x="GluePoint66X" y="GluePoint66Y"/>
              </a:cxn>
              <a:cxn ang="0">
                <a:pos x="GluePoint67X" y="GluePoint67Y"/>
              </a:cxn>
              <a:cxn ang="0">
                <a:pos x="GluePoint68X" y="GluePoint68Y"/>
              </a:cxn>
              <a:cxn ang="0">
                <a:pos x="GluePoint69X" y="GluePoint69Y"/>
              </a:cxn>
              <a:cxn ang="0">
                <a:pos x="GluePoint70X" y="GluePoint70Y"/>
              </a:cxn>
              <a:cxn ang="0">
                <a:pos x="GluePoint71X" y="GluePoint71Y"/>
              </a:cxn>
              <a:cxn ang="0">
                <a:pos x="GluePoint72X" y="GluePoint72Y"/>
              </a:cxn>
              <a:cxn ang="0">
                <a:pos x="GluePoint73X" y="GluePoint73Y"/>
              </a:cxn>
              <a:cxn ang="0">
                <a:pos x="GluePoint74X" y="GluePoint74Y"/>
              </a:cxn>
              <a:cxn ang="0">
                <a:pos x="GluePoint75X" y="GluePoint75Y"/>
              </a:cxn>
              <a:cxn ang="0">
                <a:pos x="GluePoint76X" y="GluePoint76Y"/>
              </a:cxn>
              <a:cxn ang="0">
                <a:pos x="GluePoint77X" y="GluePoint77Y"/>
              </a:cxn>
              <a:cxn ang="0">
                <a:pos x="GluePoint78X" y="GluePoint78Y"/>
              </a:cxn>
              <a:cxn ang="0">
                <a:pos x="GluePoint79X" y="GluePoint79Y"/>
              </a:cxn>
              <a:cxn ang="0">
                <a:pos x="GluePoint80X" y="GluePoint80Y"/>
              </a:cxn>
              <a:cxn ang="0">
                <a:pos x="GluePoint81X" y="GluePoint81Y"/>
              </a:cxn>
              <a:cxn ang="0">
                <a:pos x="GluePoint82X" y="GluePoint82Y"/>
              </a:cxn>
              <a:cxn ang="0">
                <a:pos x="GluePoint83X" y="GluePoint83Y"/>
              </a:cxn>
              <a:cxn ang="0">
                <a:pos x="GluePoint84X" y="GluePoint84Y"/>
              </a:cxn>
              <a:cxn ang="0">
                <a:pos x="GluePoint85X" y="GluePoint85Y"/>
              </a:cxn>
              <a:cxn ang="0">
                <a:pos x="GluePoint86X" y="GluePoint86Y"/>
              </a:cxn>
              <a:cxn ang="0">
                <a:pos x="GluePoint87X" y="GluePoint87Y"/>
              </a:cxn>
              <a:cxn ang="0">
                <a:pos x="GluePoint88X" y="GluePoint88Y"/>
              </a:cxn>
              <a:cxn ang="0">
                <a:pos x="GluePoint89X" y="GluePoint89Y"/>
              </a:cxn>
              <a:cxn ang="0">
                <a:pos x="GluePoint90X" y="GluePoint90Y"/>
              </a:cxn>
              <a:cxn ang="0">
                <a:pos x="GluePoint91X" y="GluePoint91Y"/>
              </a:cxn>
              <a:cxn ang="0">
                <a:pos x="GluePoint92X" y="GluePoint92Y"/>
              </a:cxn>
              <a:cxn ang="0">
                <a:pos x="GluePoint93X" y="GluePoint93Y"/>
              </a:cxn>
              <a:cxn ang="0">
                <a:pos x="GluePoint94X" y="GluePoint94Y"/>
              </a:cxn>
              <a:cxn ang="0">
                <a:pos x="GluePoint95X" y="GluePoint95Y"/>
              </a:cxn>
            </a:cxnLst>
            <a:rect l="textAreaLeft" t="textAreaTop" r="textAreaRight" b="textAreaBottom"/>
            <a:pathLst>
              <a:path w="457200" h="533978">
                <a:moveTo>
                  <a:pt x="447638" y="167819"/>
                </a:moveTo>
                <a:cubicBezTo>
                  <a:pt x="441638" y="164368"/>
                  <a:pt x="434513" y="164396"/>
                  <a:pt x="428551" y="167884"/>
                </a:cubicBezTo>
                <a:lnTo>
                  <a:pt x="338100" y="220663"/>
                </a:lnTo>
                <a:cubicBezTo>
                  <a:pt x="335170" y="222370"/>
                  <a:pt x="333375" y="225504"/>
                  <a:pt x="333375" y="228889"/>
                </a:cubicBezTo>
                <a:lnTo>
                  <a:pt x="333375" y="289677"/>
                </a:lnTo>
                <a:lnTo>
                  <a:pt x="300539" y="306094"/>
                </a:lnTo>
                <a:cubicBezTo>
                  <a:pt x="297312" y="307708"/>
                  <a:pt x="295275" y="311005"/>
                  <a:pt x="295275" y="314614"/>
                </a:cubicBezTo>
                <a:lnTo>
                  <a:pt x="295275" y="347952"/>
                </a:lnTo>
                <a:lnTo>
                  <a:pt x="266700" y="369383"/>
                </a:lnTo>
                <a:lnTo>
                  <a:pt x="238125" y="347957"/>
                </a:lnTo>
                <a:lnTo>
                  <a:pt x="238125" y="186023"/>
                </a:lnTo>
                <a:lnTo>
                  <a:pt x="266700" y="164596"/>
                </a:lnTo>
                <a:lnTo>
                  <a:pt x="295275" y="186027"/>
                </a:lnTo>
                <a:lnTo>
                  <a:pt x="295275" y="223174"/>
                </a:lnTo>
                <a:lnTo>
                  <a:pt x="314325" y="212221"/>
                </a:lnTo>
                <a:lnTo>
                  <a:pt x="314325" y="181264"/>
                </a:lnTo>
                <a:cubicBezTo>
                  <a:pt x="314325" y="178265"/>
                  <a:pt x="312912" y="175442"/>
                  <a:pt x="310511" y="173646"/>
                </a:cubicBezTo>
                <a:lnTo>
                  <a:pt x="272411" y="145071"/>
                </a:lnTo>
                <a:cubicBezTo>
                  <a:pt x="269025" y="142532"/>
                  <a:pt x="264375" y="142532"/>
                  <a:pt x="260989" y="145071"/>
                </a:cubicBezTo>
                <a:lnTo>
                  <a:pt x="228600" y="169358"/>
                </a:lnTo>
                <a:lnTo>
                  <a:pt x="196211" y="145071"/>
                </a:lnTo>
                <a:cubicBezTo>
                  <a:pt x="193067" y="142700"/>
                  <a:pt x="188798" y="142528"/>
                  <a:pt x="185449" y="144611"/>
                </a:cubicBezTo>
                <a:lnTo>
                  <a:pt x="147349" y="168424"/>
                </a:lnTo>
                <a:cubicBezTo>
                  <a:pt x="144568" y="170168"/>
                  <a:pt x="142875" y="173219"/>
                  <a:pt x="142875" y="176502"/>
                </a:cubicBezTo>
                <a:lnTo>
                  <a:pt x="142875" y="213477"/>
                </a:lnTo>
                <a:lnTo>
                  <a:pt x="110039" y="229894"/>
                </a:lnTo>
                <a:cubicBezTo>
                  <a:pt x="106812" y="231508"/>
                  <a:pt x="104775" y="234805"/>
                  <a:pt x="104775" y="238414"/>
                </a:cubicBezTo>
                <a:lnTo>
                  <a:pt x="104775" y="299434"/>
                </a:lnTo>
                <a:lnTo>
                  <a:pt x="19050" y="346195"/>
                </a:lnTo>
                <a:lnTo>
                  <a:pt x="19050" y="160406"/>
                </a:lnTo>
                <a:cubicBezTo>
                  <a:pt x="19050" y="147202"/>
                  <a:pt x="26063" y="134728"/>
                  <a:pt x="37337" y="127859"/>
                </a:cubicBezTo>
                <a:lnTo>
                  <a:pt x="206964" y="24610"/>
                </a:lnTo>
                <a:cubicBezTo>
                  <a:pt x="219893" y="16726"/>
                  <a:pt x="236255" y="17271"/>
                  <a:pt x="248636" y="25939"/>
                </a:cubicBezTo>
                <a:lnTo>
                  <a:pt x="388884" y="124115"/>
                </a:lnTo>
                <a:lnTo>
                  <a:pt x="342900" y="124115"/>
                </a:lnTo>
                <a:lnTo>
                  <a:pt x="342900" y="143165"/>
                </a:lnTo>
                <a:lnTo>
                  <a:pt x="419100" y="143165"/>
                </a:lnTo>
                <a:cubicBezTo>
                  <a:pt x="424364" y="143165"/>
                  <a:pt x="428625" y="138900"/>
                  <a:pt x="428625" y="133640"/>
                </a:cubicBezTo>
                <a:lnTo>
                  <a:pt x="428625" y="57440"/>
                </a:lnTo>
                <a:lnTo>
                  <a:pt x="409575" y="57440"/>
                </a:lnTo>
                <a:lnTo>
                  <a:pt x="409575" y="115347"/>
                </a:lnTo>
                <a:lnTo>
                  <a:pt x="259556" y="10332"/>
                </a:lnTo>
                <a:cubicBezTo>
                  <a:pt x="240971" y="-2681"/>
                  <a:pt x="216442" y="-3463"/>
                  <a:pt x="197067" y="8336"/>
                </a:cubicBezTo>
                <a:lnTo>
                  <a:pt x="27440" y="111590"/>
                </a:lnTo>
                <a:cubicBezTo>
                  <a:pt x="10511" y="121892"/>
                  <a:pt x="0" y="140597"/>
                  <a:pt x="0" y="160406"/>
                </a:cubicBezTo>
                <a:lnTo>
                  <a:pt x="0" y="346195"/>
                </a:lnTo>
                <a:cubicBezTo>
                  <a:pt x="0" y="352985"/>
                  <a:pt x="3488" y="359110"/>
                  <a:pt x="9320" y="362575"/>
                </a:cubicBezTo>
                <a:cubicBezTo>
                  <a:pt x="12343" y="364370"/>
                  <a:pt x="15692" y="365267"/>
                  <a:pt x="19040" y="365267"/>
                </a:cubicBezTo>
                <a:cubicBezTo>
                  <a:pt x="22166" y="365267"/>
                  <a:pt x="25292" y="364486"/>
                  <a:pt x="28165" y="362919"/>
                </a:cubicBezTo>
                <a:lnTo>
                  <a:pt x="118858" y="313452"/>
                </a:lnTo>
                <a:cubicBezTo>
                  <a:pt x="121918" y="311783"/>
                  <a:pt x="123825" y="308574"/>
                  <a:pt x="123825" y="305090"/>
                </a:cubicBezTo>
                <a:lnTo>
                  <a:pt x="123825" y="244303"/>
                </a:lnTo>
                <a:lnTo>
                  <a:pt x="156661" y="227885"/>
                </a:lnTo>
                <a:cubicBezTo>
                  <a:pt x="159888" y="226272"/>
                  <a:pt x="161925" y="222974"/>
                  <a:pt x="161925" y="219365"/>
                </a:cubicBezTo>
                <a:lnTo>
                  <a:pt x="161925" y="181782"/>
                </a:lnTo>
                <a:lnTo>
                  <a:pt x="190007" y="164229"/>
                </a:lnTo>
                <a:lnTo>
                  <a:pt x="219075" y="186023"/>
                </a:lnTo>
                <a:lnTo>
                  <a:pt x="219075" y="347957"/>
                </a:lnTo>
                <a:lnTo>
                  <a:pt x="190500" y="369384"/>
                </a:lnTo>
                <a:lnTo>
                  <a:pt x="161925" y="347953"/>
                </a:lnTo>
                <a:lnTo>
                  <a:pt x="161925" y="310805"/>
                </a:lnTo>
                <a:lnTo>
                  <a:pt x="142875" y="321283"/>
                </a:lnTo>
                <a:lnTo>
                  <a:pt x="142875" y="352715"/>
                </a:lnTo>
                <a:cubicBezTo>
                  <a:pt x="142875" y="355715"/>
                  <a:pt x="144289" y="358538"/>
                  <a:pt x="146689" y="360333"/>
                </a:cubicBezTo>
                <a:lnTo>
                  <a:pt x="184789" y="388908"/>
                </a:lnTo>
                <a:cubicBezTo>
                  <a:pt x="188174" y="391448"/>
                  <a:pt x="192825" y="391448"/>
                  <a:pt x="196211" y="388908"/>
                </a:cubicBezTo>
                <a:lnTo>
                  <a:pt x="228600" y="364622"/>
                </a:lnTo>
                <a:lnTo>
                  <a:pt x="260989" y="388908"/>
                </a:lnTo>
                <a:cubicBezTo>
                  <a:pt x="264374" y="391448"/>
                  <a:pt x="269025" y="391448"/>
                  <a:pt x="272411" y="388908"/>
                </a:cubicBezTo>
                <a:lnTo>
                  <a:pt x="310511" y="360333"/>
                </a:lnTo>
                <a:cubicBezTo>
                  <a:pt x="312911" y="358538"/>
                  <a:pt x="314325" y="355715"/>
                  <a:pt x="314325" y="352715"/>
                </a:cubicBezTo>
                <a:lnTo>
                  <a:pt x="314325" y="320503"/>
                </a:lnTo>
                <a:lnTo>
                  <a:pt x="347161" y="304085"/>
                </a:lnTo>
                <a:cubicBezTo>
                  <a:pt x="350388" y="302472"/>
                  <a:pt x="352425" y="299174"/>
                  <a:pt x="352425" y="295565"/>
                </a:cubicBezTo>
                <a:lnTo>
                  <a:pt x="352425" y="234360"/>
                </a:lnTo>
                <a:lnTo>
                  <a:pt x="438150" y="184339"/>
                </a:lnTo>
                <a:lnTo>
                  <a:pt x="438150" y="373574"/>
                </a:lnTo>
                <a:cubicBezTo>
                  <a:pt x="438150" y="386778"/>
                  <a:pt x="431137" y="399252"/>
                  <a:pt x="419863" y="406121"/>
                </a:cubicBezTo>
                <a:lnTo>
                  <a:pt x="250236" y="509370"/>
                </a:lnTo>
                <a:cubicBezTo>
                  <a:pt x="237297" y="517235"/>
                  <a:pt x="220945" y="516709"/>
                  <a:pt x="208564" y="508041"/>
                </a:cubicBezTo>
                <a:lnTo>
                  <a:pt x="68315" y="409865"/>
                </a:lnTo>
                <a:lnTo>
                  <a:pt x="114300" y="409865"/>
                </a:lnTo>
                <a:lnTo>
                  <a:pt x="114300" y="390815"/>
                </a:lnTo>
                <a:lnTo>
                  <a:pt x="38100" y="390815"/>
                </a:lnTo>
                <a:cubicBezTo>
                  <a:pt x="32836" y="390815"/>
                  <a:pt x="28575" y="395080"/>
                  <a:pt x="28575" y="400340"/>
                </a:cubicBezTo>
                <a:lnTo>
                  <a:pt x="28575" y="476540"/>
                </a:lnTo>
                <a:lnTo>
                  <a:pt x="47625" y="476540"/>
                </a:lnTo>
                <a:lnTo>
                  <a:pt x="47625" y="418634"/>
                </a:lnTo>
                <a:lnTo>
                  <a:pt x="197644" y="523649"/>
                </a:lnTo>
                <a:cubicBezTo>
                  <a:pt x="207457" y="530518"/>
                  <a:pt x="218926" y="533978"/>
                  <a:pt x="230423" y="533978"/>
                </a:cubicBezTo>
                <a:cubicBezTo>
                  <a:pt x="240692" y="533978"/>
                  <a:pt x="250989" y="531211"/>
                  <a:pt x="260133" y="525644"/>
                </a:cubicBezTo>
                <a:lnTo>
                  <a:pt x="429759" y="422390"/>
                </a:lnTo>
                <a:cubicBezTo>
                  <a:pt x="446689" y="412089"/>
                  <a:pt x="457200" y="393382"/>
                  <a:pt x="457200" y="373574"/>
                </a:cubicBezTo>
                <a:lnTo>
                  <a:pt x="457200" y="184339"/>
                </a:lnTo>
                <a:cubicBezTo>
                  <a:pt x="457200" y="177433"/>
                  <a:pt x="453628" y="171256"/>
                  <a:pt x="447638" y="167819"/>
                </a:cubicBezTo>
                <a:close/>
              </a:path>
            </a:pathLst>
          </a:custGeom>
          <a:gradFill rotWithShape="0">
            <a:gsLst>
              <a:gs pos="0">
                <a:srgbClr val="41B3FF">
                  <a:alpha val="84000"/>
                </a:srgbClr>
              </a:gs>
              <a:gs pos="52000">
                <a:srgbClr val="AD5CFF"/>
              </a:gs>
              <a:gs pos="100000">
                <a:srgbClr val="FF5C85"/>
              </a:gs>
            </a:gsLst>
            <a:lin ang="27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AWS Confidential Dark">
  <a:themeElements>
    <a:clrScheme name="AWS 2024">
      <a:dk1>
        <a:srgbClr val="000000"/>
      </a:dk1>
      <a:lt1>
        <a:srgbClr val="FFFFFF"/>
      </a:lt1>
      <a:dk2>
        <a:srgbClr val="161D26"/>
      </a:dk2>
      <a:lt2>
        <a:srgbClr val="F3F3F7"/>
      </a:lt2>
      <a:accent1>
        <a:srgbClr val="41B3FF"/>
      </a:accent1>
      <a:accent2>
        <a:srgbClr val="AD5CFF"/>
      </a:accent2>
      <a:accent3>
        <a:srgbClr val="00E500"/>
      </a:accent3>
      <a:accent4>
        <a:srgbClr val="FF5C85"/>
      </a:accent4>
      <a:accent5>
        <a:srgbClr val="FF693C"/>
      </a:accent5>
      <a:accent6>
        <a:srgbClr val="FBD332"/>
      </a:accent6>
      <a:hlink>
        <a:srgbClr val="41B1E8"/>
      </a:hlink>
      <a:folHlink>
        <a:srgbClr val="41B1E8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93330</TotalTime>
  <Words>9311</Words>
  <Application>Microsoft Macintosh PowerPoint</Application>
  <PresentationFormat>Widescreen</PresentationFormat>
  <Paragraphs>1513</Paragraphs>
  <Slides>62</Slides>
  <Notes>62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76" baseType="lpstr">
      <vt:lpstr>Amazon Ember</vt:lpstr>
      <vt:lpstr>Amazon Ember Display</vt:lpstr>
      <vt:lpstr>Amazon Ember Medium</vt:lpstr>
      <vt:lpstr>Amazon Ember Mono</vt:lpstr>
      <vt:lpstr>Amazon Ember Regular</vt:lpstr>
      <vt:lpstr>Arial</vt:lpstr>
      <vt:lpstr>Calibri</vt:lpstr>
      <vt:lpstr>Calibri Light</vt:lpstr>
      <vt:lpstr>Montserrat</vt:lpstr>
      <vt:lpstr>PT Sans</vt:lpstr>
      <vt:lpstr>Symbol</vt:lpstr>
      <vt:lpstr>Times New Roman</vt:lpstr>
      <vt:lpstr>Wingdings</vt:lpstr>
      <vt:lpstr>AWS Confidential Dark</vt:lpstr>
      <vt:lpstr>AWS Transform</vt:lpstr>
      <vt:lpstr>Agenda</vt:lpstr>
      <vt:lpstr>Migration Customer Journey</vt:lpstr>
      <vt:lpstr>Executive Summary</vt:lpstr>
      <vt:lpstr>Executive Summary</vt:lpstr>
      <vt:lpstr>Assessment Scope</vt:lpstr>
      <vt:lpstr>TCO Summary</vt:lpstr>
      <vt:lpstr>PowerPoint Presentation</vt:lpstr>
      <vt:lpstr>PowerPoint Presentation</vt:lpstr>
      <vt:lpstr>Insights</vt:lpstr>
      <vt:lpstr>Compute and Licensing</vt:lpstr>
      <vt:lpstr>Microsoft Windows and Microsoft SQL Server Support</vt:lpstr>
      <vt:lpstr>Seamlessly Migrate with Amazon Elastic VMware Service (Amazon EVS) The fastest path to migrate and operate VMware workloads on AWS</vt:lpstr>
      <vt:lpstr>Potential SQL Server Core Reductions – Shared Tenancy</vt:lpstr>
      <vt:lpstr>PowerPoint Presentation</vt:lpstr>
      <vt:lpstr>PowerPoint Presentation</vt:lpstr>
      <vt:lpstr>Storage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Business Value</vt:lpstr>
      <vt:lpstr>Estimated VMware License Renewal Cost </vt:lpstr>
      <vt:lpstr>PowerPoint Presentation</vt:lpstr>
      <vt:lpstr>Business Value</vt:lpstr>
      <vt:lpstr>Scope and Assumptions for Business Value</vt:lpstr>
      <vt:lpstr>Staff Productivity Summary</vt:lpstr>
      <vt:lpstr>Operational Resilience Summary</vt:lpstr>
      <vt:lpstr>Business Agility Summary</vt:lpstr>
      <vt:lpstr>Next Steps</vt:lpstr>
      <vt:lpstr>Engage a Specialist</vt:lpstr>
      <vt:lpstr>Microsoft Licensing EA Renewal Support</vt:lpstr>
      <vt:lpstr>Migration Acceleration Program</vt:lpstr>
      <vt:lpstr>Wave Planning &amp; Migration using VMware Job</vt:lpstr>
      <vt:lpstr>PowerPoint Presentation</vt:lpstr>
      <vt:lpstr>Additional Recommendations</vt:lpstr>
      <vt:lpstr>PowerPoint Presentation</vt:lpstr>
      <vt:lpstr>Thank You!</vt:lpstr>
      <vt:lpstr>Appendix</vt:lpstr>
      <vt:lpstr>AWS Deployment Summary</vt:lpstr>
      <vt:lpstr>EC2 Instances: Shared Tenancy and Dedicated Hosts</vt:lpstr>
      <vt:lpstr>Distribution of Recommended Instances</vt:lpstr>
      <vt:lpstr>Distribution of Recommended Instances</vt:lpstr>
      <vt:lpstr>Distribution of Recommended Instances</vt:lpstr>
      <vt:lpstr>Storage Assessment</vt:lpstr>
      <vt:lpstr>PowerPoint Presentation</vt:lpstr>
      <vt:lpstr>Amazon FSx for NetApp ONTAP (FSxN) – Configurations</vt:lpstr>
      <vt:lpstr>PowerPoint Presentation</vt:lpstr>
      <vt:lpstr>PowerPoint Presentation</vt:lpstr>
      <vt:lpstr>PowerPoint Presentation</vt:lpstr>
      <vt:lpstr>Amazon FSxN - Useful Links</vt:lpstr>
      <vt:lpstr>PowerPoint Presentation</vt:lpstr>
      <vt:lpstr>PowerPoint Presentation</vt:lpstr>
      <vt:lpstr>Other Resources</vt:lpstr>
      <vt:lpstr>On-Premises Annual Cost Estimation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template includes</dc:title>
  <dc:subject/>
  <dc:creator>Microsoft Office User</dc:creator>
  <dc:description/>
  <cp:lastModifiedBy>Kumar, Arnav</cp:lastModifiedBy>
  <cp:revision>444</cp:revision>
  <dcterms:created xsi:type="dcterms:W3CDTF">2022-07-18T16:28:56Z</dcterms:created>
  <dcterms:modified xsi:type="dcterms:W3CDTF">2026-06-26T15:15:46Z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29eed6f-34eb-4453-9f97-09510b9b219f_ActionId">
    <vt:lpwstr>b3e425f4-5943-4c10-b0d9-133fa798ff57</vt:lpwstr>
  </property>
  <property fmtid="{D5CDD505-2E9C-101B-9397-08002B2CF9AE}" pid="3" name="MSIP_Label_929eed6f-34eb-4453-9f97-09510b9b219f_ContentBits">
    <vt:lpwstr>0</vt:lpwstr>
  </property>
  <property fmtid="{D5CDD505-2E9C-101B-9397-08002B2CF9AE}" pid="4" name="MSIP_Label_929eed6f-34eb-4453-9f97-09510b9b219f_Enabled">
    <vt:lpwstr>true</vt:lpwstr>
  </property>
  <property fmtid="{D5CDD505-2E9C-101B-9397-08002B2CF9AE}" pid="5" name="MSIP_Label_929eed6f-34eb-4453-9f97-09510b9b219f_Method">
    <vt:lpwstr>Standard</vt:lpwstr>
  </property>
  <property fmtid="{D5CDD505-2E9C-101B-9397-08002B2CF9AE}" pid="6" name="MSIP_Label_929eed6f-34eb-4453-9f97-09510b9b219f_Name">
    <vt:lpwstr>Amazon Pending_Classification</vt:lpwstr>
  </property>
  <property fmtid="{D5CDD505-2E9C-101B-9397-08002B2CF9AE}" pid="7" name="MSIP_Label_929eed6f-34eb-4453-9f97-09510b9b219f_SetDate">
    <vt:lpwstr>2025-07-03T01:06:42Z</vt:lpwstr>
  </property>
  <property fmtid="{D5CDD505-2E9C-101B-9397-08002B2CF9AE}" pid="8" name="MSIP_Label_929eed6f-34eb-4453-9f97-09510b9b219f_SiteId">
    <vt:lpwstr>5280104a-472d-4538-9ccf-1e1d0efe8b1b</vt:lpwstr>
  </property>
  <property fmtid="{D5CDD505-2E9C-101B-9397-08002B2CF9AE}" pid="9" name="MSIP_Label_929eed6f-34eb-4453-9f97-09510b9b219f_Tag">
    <vt:lpwstr>50, 3, 0, 1</vt:lpwstr>
  </property>
  <property fmtid="{D5CDD505-2E9C-101B-9397-08002B2CF9AE}" pid="10" name="Notes">
    <vt:i4>24</vt:i4>
  </property>
  <property fmtid="{D5CDD505-2E9C-101B-9397-08002B2CF9AE}" pid="11" name="PresentationFormat">
    <vt:lpwstr>Widescreen</vt:lpwstr>
  </property>
  <property fmtid="{D5CDD505-2E9C-101B-9397-08002B2CF9AE}" pid="12" name="Slides">
    <vt:i4>43</vt:i4>
  </property>
</Properties>
</file>